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1675"/>
  <p:notesSz cx="6858000" cy="12191675"/>
  <p:embeddedFontLst>
    <p:embeddedFont>
      <p:font typeface="Play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gHh2iv/yhgqhctVg7C47pZnkz8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lay-bold.fntdata"/><Relationship Id="rId6" Type="http://schemas.openxmlformats.org/officeDocument/2006/relationships/slide" Target="slides/slide2.xml"/><Relationship Id="rId18" Type="http://schemas.openxmlformats.org/officeDocument/2006/relationships/font" Target="fonts/Play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db73ca0ef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db73ca0ef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db73ca0ef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db73ca0ef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edb73ca0ef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g3edb73ca0ef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db73ca0ef_0_4"/>
          <p:cNvSpPr/>
          <p:nvPr/>
        </p:nvSpPr>
        <p:spPr>
          <a:xfrm>
            <a:off x="540575" y="2385550"/>
            <a:ext cx="111105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4300"/>
              <a:buFont typeface="Play"/>
              <a:buNone/>
            </a:pPr>
            <a:r>
              <a:rPr lang="en-US" sz="4300">
                <a:solidFill>
                  <a:schemeClr val="dk1"/>
                </a:solidFill>
              </a:rPr>
              <a:t>Projeto Final - Introdução à Ciência de Dados</a:t>
            </a:r>
            <a:endParaRPr b="0" i="0" sz="4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edb73ca0ef_0_4"/>
          <p:cNvSpPr/>
          <p:nvPr/>
        </p:nvSpPr>
        <p:spPr>
          <a:xfrm>
            <a:off x="924375" y="2606100"/>
            <a:ext cx="9966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g3edb73ca0ef_0_4"/>
          <p:cNvSpPr txBox="1"/>
          <p:nvPr/>
        </p:nvSpPr>
        <p:spPr>
          <a:xfrm>
            <a:off x="2457588" y="4366000"/>
            <a:ext cx="7276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/>
              <a:t>Gabriel Rios     Davi Vechi     Bruno Soares     João Vaz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/>
          <p:nvPr/>
        </p:nvSpPr>
        <p:spPr>
          <a:xfrm>
            <a:off x="548570" y="411870"/>
            <a:ext cx="10698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4300"/>
              <a:buFont typeface="Play"/>
              <a:buNone/>
            </a:pPr>
            <a:r>
              <a:rPr b="1" i="0" lang="en-US" sz="4300" u="none" cap="none" strike="noStrike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Análise dos acidentes em vias brasileiras em 2025</a:t>
            </a:r>
            <a:endParaRPr b="0" i="0" sz="4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914400" y="2005550"/>
            <a:ext cx="9966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100"/>
              <a:buFont typeface="Arial"/>
              <a:buNone/>
            </a:pPr>
            <a:r>
              <a:rPr b="0" i="0" lang="en-US" sz="2800" u="none" cap="none" strike="noStrike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Nossa análise fala sobre os principais acidentes, causas, fatalidades etc. Os dados foram extraídos do Dados Abertos do Gov.br.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100"/>
              <a:buFont typeface="Arial"/>
              <a:buNone/>
            </a:pPr>
            <a:r>
              <a:rPr b="0" i="0" lang="en-US" sz="2800" u="none" cap="none" strike="noStrike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Os dados comentados dizem a respeito do ano de 2025 e iremos comentá-los acerca das estatísticas observadas a parti</a:t>
            </a:r>
            <a:r>
              <a:rPr lang="en-US" sz="2800">
                <a:solidFill>
                  <a:srgbClr val="242424"/>
                </a:solidFill>
              </a:rPr>
              <a:t>r de gráficos e faremos conclusões finais</a:t>
            </a:r>
            <a:r>
              <a:rPr b="0" i="0" lang="en-US" sz="2800" u="none" cap="none" strike="noStrike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1036675" y="5133525"/>
            <a:ext cx="574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Quais são as 10 UFs com mais acidentes fatais?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assets/cell11_output0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41149"/>
            <a:ext cx="7863840" cy="465916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8549640" y="10789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549640" y="1417320"/>
            <a:ext cx="306324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Minas Gerais (MG) lidera com folga o ranking de acidentes com mortes, seguido por Paraná (PR) e Bahia (BA).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Fato curioso: Apesar de São Paulo ter uma das maiores frotas, o rigor e as características das rodovias paulistas (muitas sob concessão) a deixam na 10ª posição em fatalidades registradas pela PRF.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Qual condição meteorológica ocorrem mais acidentes?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assets/cell15_output0.png"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37153"/>
            <a:ext cx="7863840" cy="466715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/>
          <p:nvPr/>
        </p:nvSpPr>
        <p:spPr>
          <a:xfrm>
            <a:off x="8549640" y="10789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8549640" y="1417320"/>
            <a:ext cx="306324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A esmagadora maioria dos acidentes acontece com o tempo em condições ideais (Céu Claro). Isso indica que a imprudência ou a distração humana pesam muito mais do que fatores climáticos adversos, já que o tempo bom traz uma falsa sensação de segurança que induz ao excesso de velocidade.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Qual sentido da via ocorrem mais acidentes?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assets/cell18_output0.png"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38779"/>
            <a:ext cx="7863840" cy="466390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8549640" y="10789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549640" y="1417320"/>
            <a:ext cx="306324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O sentido Crescente da via registra um volume ligeiramente maior de acidentes em comparação ao sentido Decrescente.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Qual a causa de acidentes mais comum?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assets/cell21_output0.png" id="60" name="Google Shape;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43514"/>
            <a:ext cx="7863840" cy="465443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/>
          <p:nvPr/>
        </p:nvSpPr>
        <p:spPr>
          <a:xfrm>
            <a:off x="8549640" y="10789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/>
          <p:nvPr/>
        </p:nvSpPr>
        <p:spPr>
          <a:xfrm>
            <a:off x="8549640" y="1417320"/>
            <a:ext cx="306324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A principal causa registrada é a Ausência de reação do condutor (distração, uso de celular), seguida bem de perto por Reação tardia ou ineficiente do condutor. Juntas, as falhas de atenção dominam as ocorrências.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Qual o tipo de acidentes que mais ocorre?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assets/cell24_output0.png" id="69" name="Google Shape;6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41149"/>
            <a:ext cx="7863840" cy="465916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/>
          <p:nvPr/>
        </p:nvSpPr>
        <p:spPr>
          <a:xfrm>
            <a:off x="8549640" y="10789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8549640" y="1417320"/>
            <a:ext cx="306324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A Colisão traseira é o tipo de acidente disparado mais comum (geralmente ligada à falta de distância de segurança e reações tardias), seguida por Saída de leito carroçável (quando o veículo sai da pista) e Colisão transversal.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Quais são 10 municípios que mais tem acidentes fatais?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nb_assets/cell27_output0.png"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237153"/>
            <a:ext cx="7863840" cy="4667157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/>
          <p:nvPr/>
        </p:nvSpPr>
        <p:spPr>
          <a:xfrm>
            <a:off x="8549640" y="107899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Interpretação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8549640" y="1417320"/>
            <a:ext cx="306324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Brasília (DF) aparece no topo da lista com o maior número de acidentes com óbitos nas rodovias federais que cortam a região, seguida por Curitiba (PR), São José dos Pinhais (PR) e Feira de Santana (BA).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Conclusões finais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0"/>
          <p:cNvSpPr/>
          <p:nvPr/>
        </p:nvSpPr>
        <p:spPr>
          <a:xfrm>
            <a:off x="685800" y="1115568"/>
            <a:ext cx="10835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1. O fator humano e a distração superam os fatores climáticos e estruturais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/>
          <p:nvPr/>
        </p:nvSpPr>
        <p:spPr>
          <a:xfrm>
            <a:off x="685800" y="1965960"/>
            <a:ext cx="10835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Existe um senso comum de que a maioria dos acidentes graves acontece sob chuva forte ou neblina. Os dados provam o oposto: a esmagadora maioria ocorre com Céu Claro (Gráfico 2). Quando alinhamos isso ao fato de que as principais causas são a Ausência de reação ou Reação tardia do condutor (Gráfico 4) — grandes indícios de distração por uso de celular ou cansaço —, fica evidente que o comportamento humano e a falsa sensação de segurança do tempo bom são os maiores perigos nas rodovias.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1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Conclusões finais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1"/>
          <p:cNvSpPr/>
          <p:nvPr/>
        </p:nvSpPr>
        <p:spPr>
          <a:xfrm>
            <a:off x="685800" y="1115568"/>
            <a:ext cx="10835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2. A falta de distância de segurança é o erro de conduta mais comum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1"/>
          <p:cNvSpPr/>
          <p:nvPr/>
        </p:nvSpPr>
        <p:spPr>
          <a:xfrm>
            <a:off x="685800" y="1965960"/>
            <a:ext cx="108356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O tipo de acidente mais frequente disparado é a Colisão Traseira (Gráfico 5). Esse dado está diretamente ligado à quarta causa mais comum: "Condutor deixou de manter distância do veículo da frente" (Gráfico 4). Isso mostra um padrão claro de comportamento de risco no trânsito brasileiro: motoristas trafegando muito próximos uns dos outros em velocidades que inviabilizam uma frenagem de emergência a tempo.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Conclusões finais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685800" y="1005840"/>
            <a:ext cx="10835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3. O risco de morte está concentrado em eixos de grande fluxo de carga e perímetros urbanos rodoviários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685800" y="2057400"/>
            <a:ext cx="1083564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Embora o volume geral de pequenos acidentes aconteça em qualquer lugar, a letalidade tem alvos certos: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A nível estadual: Minas Gerais (MG), Paraná (PR) e Bahia (BA) lideram os acidentes fatais (Gráfico 1). São estados gigantescos, que servem como os principais corredores de escoamento de carga do país e possuem malhas rodoviárias federais extensas e desafiadoras.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/>
          <p:nvPr/>
        </p:nvSpPr>
        <p:spPr>
          <a:xfrm>
            <a:off x="502920" y="292608"/>
            <a:ext cx="11201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31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Conclusões finais</a:t>
            </a:r>
            <a:endParaRPr sz="3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685800" y="1005840"/>
            <a:ext cx="10835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2300"/>
              <a:buFont typeface="Arial"/>
              <a:buNone/>
            </a:pPr>
            <a:r>
              <a:rPr lang="en-US" sz="2300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3. O risco de morte está concentrado em eixos de grande fluxo de carga e perímetros urbanos rodoviários</a:t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685800" y="2057400"/>
            <a:ext cx="108356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200"/>
              <a:buFont typeface="Arial"/>
              <a:buNone/>
            </a:pPr>
            <a:r>
              <a:rPr lang="en-US" sz="220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A nível municipal: Cidades como Brasília (DF), Curitiba (PR) e São José dos Pinhais (PR) no topo da lista (Gráfico 6) evidenciam o perigo dos perímetros urbanos das rodovias federais (as BRs que cortam grandes cidades), onde o tráfego pesado de longa distância se mistura com o trânsito local de alta velocidade, gerando colisões muito mais severas e fatais.</a:t>
            </a:r>
            <a:endParaRPr sz="2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1E8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db73ca0ef_0_12"/>
          <p:cNvSpPr/>
          <p:nvPr/>
        </p:nvSpPr>
        <p:spPr>
          <a:xfrm>
            <a:off x="4588500" y="2806050"/>
            <a:ext cx="3030300" cy="12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02B"/>
              </a:buClr>
              <a:buSzPts val="3100"/>
              <a:buFont typeface="Play"/>
              <a:buNone/>
            </a:pPr>
            <a:r>
              <a:rPr b="1" lang="en-US" sz="5000">
                <a:solidFill>
                  <a:srgbClr val="16302B"/>
                </a:solidFill>
                <a:latin typeface="Play"/>
                <a:ea typeface="Play"/>
                <a:cs typeface="Play"/>
                <a:sym typeface="Play"/>
              </a:rPr>
              <a:t>Obrigado!</a:t>
            </a:r>
            <a:endParaRPr sz="5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edb73ca0ef_0_12"/>
          <p:cNvSpPr/>
          <p:nvPr/>
        </p:nvSpPr>
        <p:spPr>
          <a:xfrm>
            <a:off x="685800" y="1005840"/>
            <a:ext cx="108357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23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edb73ca0ef_0_12"/>
          <p:cNvSpPr/>
          <p:nvPr/>
        </p:nvSpPr>
        <p:spPr>
          <a:xfrm>
            <a:off x="1971675" y="4180600"/>
            <a:ext cx="108357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2424"/>
              </a:buClr>
              <a:buSzPts val="2200"/>
              <a:buFont typeface="Arial"/>
              <a:buNone/>
            </a:pPr>
            <a:r>
              <a:t/>
            </a:r>
            <a:endParaRPr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2026-06-18T13:17:48Z</dcterms:created>
  <dc:creator>OpenAI</dc:creator>
</cp:coreProperties>
</file>